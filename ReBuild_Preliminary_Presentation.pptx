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137160" cy="3474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463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PROJECT &amp; LITERATURE REVIEW PRESENTATION (30% CODE EVALUATION)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192024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ReBuild: AI-Powered Construction &amp; Demolition Waste Circular Intelligence Platform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88720" y="33832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Site Debris Vision Classification, Anti-Spoofing Document Integrity, Real-Time GPS Telemetry &amp; B2B Circular Salvage Marketplace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4389120"/>
            <a:ext cx="438912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5720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FACULTY GUIDE:
</a:t>
            </a:r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Prof. LeeMa Mathew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Department of Computer Science &amp; Engineering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52160" y="4389120"/>
            <a:ext cx="438912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45720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PROJECT TEAM &amp; MILESTONE:
</a:t>
            </a:r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Project Batch 2026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Milestone: 30% Evaluation &amp; Literature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Project Motivation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Preliminary Project &amp; 30% Code Evaluation | Guide: Prof. LeeMa Mathew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91440" cy="2103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35%+ Global Solid Waste Volume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and Demolition (C&amp;D) activities account for over 3 billion metric tons of debris annually, exceeding all municipal household waste streams combined.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554480"/>
            <a:ext cx="91440" cy="2103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Ecological Depletion of Aggregates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2402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Rampant river sand dredging and virgin limestone quarrying for new concrete mixes destroy aquatic ecosystems and drive heavy Scope 3 embodied greenhouse gas emissions.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931920"/>
            <a:ext cx="91440" cy="2103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160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Tremendous Lost Economic Value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6177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structural steel rebar, dimensional timber, clay bricks, and crushable concrete rubble are discarded into landfills instead of being segregated for secondary resale.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93192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931920"/>
            <a:ext cx="91440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160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Opportunity: AI Vision &amp; GIS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46177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 edge AI vision coupled with live GPS telemetry allows site engineers to instantly identify, audit, and trade salvaged materials within an automated circular marketplace.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Preliminary Project &amp; 30% Code Evaluation | Guide: Prof. LeeMa Mathew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132A2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"Current construction and demolition waste management practices rely almost exclusively on unverified visual inspection, leading to severe material contamination, audit fraud, unrecorded illegal dumping, and fragmented local salvage supply chains."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2542032" cy="3017520"/>
          </a:xfrm>
          <a:prstGeom prst="roundRect">
            <a:avLst>
              <a:gd name="adj" fmla="val 35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Auto Classifier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389120"/>
            <a:ext cx="21762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edge computer vision to differentiate clean concrete rubble, clay masonry, and scrap rebar from non-structural debris.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56432" y="3108960"/>
            <a:ext cx="2542032" cy="3017520"/>
          </a:xfrm>
          <a:prstGeom prst="roundRect">
            <a:avLst>
              <a:gd name="adj" fmla="val 35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329184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39312" y="384048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Fraud &amp; Paper Spoofing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39312" y="4389120"/>
            <a:ext cx="21762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logging systems accept arbitrary 2D photo uploads (notebook pages, certificates) without texture verification.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1344" y="3108960"/>
            <a:ext cx="2542032" cy="3017520"/>
          </a:xfrm>
          <a:prstGeom prst="roundRect">
            <a:avLst>
              <a:gd name="adj" fmla="val 35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329184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64224" y="384048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Fractured Supply Chain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64224" y="4389120"/>
            <a:ext cx="21762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Contractors with salvaged debris have zero direct digital marketplace connection to nearby builders or aggregate crushers.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06256" y="3108960"/>
            <a:ext cx="2542032" cy="3017520"/>
          </a:xfrm>
          <a:prstGeom prst="roundRect">
            <a:avLst>
              <a:gd name="adj" fmla="val 35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89136" y="329184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089136" y="384048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Telemetry &amp; ESG Metrics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89136" y="4389120"/>
            <a:ext cx="21762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Inability to calculate real-time Scope 3 embodied carbon ($CO_2e$) offsets and municipal landfill airspace conserved.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Goals and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Preliminary Project &amp; 30% Code Evaluation | Guide: Prof. LeeMa Mathew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0F2D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0020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SYSTEM GOAL: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build a production-grade, AI-driven circular intelligence platform that automates on-site CDW recognition, enforces fraud-proof site audits via GPS reverse-geocoding, and enables peer-to-peer secondary material trading.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9718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Vision Classifier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3375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deep CNNs (ResNet-34) to categorize 8+ CDW materials (Concrete, Brick, Metal, Timber, Ceramic, Asphalt) with &gt;90% accuracy.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28346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29718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Anti-Spoofing Document Filter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33375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 a 2-stage tensor luminance and stroke-density gate to reject non-debris uploads (notebooks, certificates, paper documents).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46720" y="28346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29718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18388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Satellite GPS Lock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33375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browser GNSS hardware fixes and auto-resolve human-readable site survey addresses via reverse geocoding APIs.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461772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75488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754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8016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B2B Marketplace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51206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Haversine distance-optimized material discovery, interactive Leaflet mapping, and buyer order transaction management.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0" y="461772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26280" y="475488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/>
        </p:spPr>
      </p:sp>
      <p:sp>
        <p:nvSpPr>
          <p:cNvPr id="30" name="Text 28"/>
          <p:cNvSpPr/>
          <p:nvPr/>
        </p:nvSpPr>
        <p:spPr>
          <a:xfrm>
            <a:off x="4526280" y="4754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ESG Impact Telemetry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51206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Dynamically compute real-time embodied carbon ($0.428 kg CO_2e/kg$), landfill airspace conserved ($1,250 kg/m^3$), and municipal tipping savings.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046720" y="461772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475488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8183880" y="4754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59536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Zero-Mock Data Architecture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0" y="51206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all dashboard charts, logs, inventory tallies, and order metrics are 100% dynamically sourced from disk-persisted database records.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Assumptions and Risks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Preliminary Project &amp; 30% Code Evaluation | Guide: Prof. LeeMa Mathew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66344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2926080"/>
                <a:gridCol w="2926080"/>
              </a:tblGrid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Key Assumption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Identified Risk / Vulnerability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Mitigation Strategy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</a:rPr>
                        <a:t>Data Quality &amp; Lighting</a:t>
                      </a:r>
                      <a:endParaRPr lang="en-US" sz="9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Site photos captured via smartphone cameras in outdoor daylight or site worklights.</a:t>
                      </a:r>
                      <a:endParaRPr lang="en-US" sz="9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CA5A5"/>
                          </a:solidFill>
                        </a:rPr>
                        <a:t>Extreme dust, motion blur, direct specular sun glares on steel rebar.</a:t>
                      </a:r>
                      <a:endParaRPr lang="en-US" sz="9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7F3D0"/>
                          </a:solidFill>
                        </a:rPr>
                        <a:t>Color space normalization, adaptive CLAHE contrast enhancement, multi-scale cropping.</a:t>
                      </a:r>
                      <a:endParaRPr lang="en-US" sz="9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</a:rPr>
                        <a:t>Material Contamination</a:t>
                      </a:r>
                      <a:endParaRPr lang="en-US" sz="9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Demolition waste may contain mixed aggregates (e.g., concrete slab with rebar).</a:t>
                      </a:r>
                      <a:endParaRPr lang="en-US" sz="9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CA5A5"/>
                          </a:solidFill>
                        </a:rPr>
                        <a:t>Secondary misclassification or composite material ambiguity.</a:t>
                      </a:r>
                      <a:endParaRPr lang="en-US" sz="9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7F3D0"/>
                          </a:solidFill>
                        </a:rPr>
                        <a:t>Multi-label secondary prediction ranking and contractor human-in-the-loop override logging.</a:t>
                      </a:r>
                      <a:endParaRPr lang="en-US" sz="9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</a:rPr>
                        <a:t>Network &amp; Connectivity</a:t>
                      </a:r>
                      <a:endParaRPr lang="en-US" sz="9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Demolition sites have intermittent 4G/5G mobile bandwidth.</a:t>
                      </a:r>
                      <a:endParaRPr lang="en-US" sz="9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CA5A5"/>
                          </a:solidFill>
                        </a:rPr>
                        <a:t>High latency in server-side AI inference or map tile loading.</a:t>
                      </a:r>
                      <a:endParaRPr lang="en-US" sz="9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7F3D0"/>
                          </a:solidFill>
                        </a:rPr>
                        <a:t>Client-side canvas tensor preprocessing and local disk-backed persistence caching.</a:t>
                      </a:r>
                      <a:endParaRPr lang="en-US" sz="9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</a:rPr>
                        <a:t>Regulatory Integrity</a:t>
                      </a:r>
                      <a:endParaRPr lang="en-US" sz="9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Contractors comply with municipal C&amp;D waste disposal bylaws.</a:t>
                      </a:r>
                      <a:endParaRPr lang="en-US" sz="9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CA5A5"/>
                          </a:solidFill>
                        </a:rPr>
                        <a:t>Attempted fraud through submission of arbitrary paper receipts or stock images.</a:t>
                      </a:r>
                      <a:endParaRPr lang="en-US" sz="9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7F3D0"/>
                          </a:solidFill>
                        </a:rPr>
                        <a:t>Anti-spoofing document rejection algorithms, mandatory satellite GPS lock, and audit trails.</a:t>
                      </a:r>
                      <a:endParaRPr lang="en-US" sz="9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Project Scope and Target Group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Preliminary Project &amp; 30% Code Evaluation | Guide: Prof. LeeMa Mathew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12080" cy="310896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IN-SCOPE FUNCTIONAL MODULES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edge vision classifier for 8+ major construction material categories.
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Multi-stage document/paper rejection filter to eliminate false-positive audit logs.
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site GPS locking with reverse geocoded locality resolution.
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Multi-role portal (Contractor/Seller, Buyer/Procurement, Admin Governance).
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ESG environmental calculation engine (Embodied carbon, landfill airspace avoided).
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GIS map visualization for nearby material lots and haulage routes.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75488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1E1E2E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8920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(FUTURE PHASES)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52120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Autonomous drone photogrammetry for volumetric aggregate stockpile calculation.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Integration of chemical XRF spectrometry for heavy-metal hazardous soil detection.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459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STAKEHOLDER GROUPS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201168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Demolition &amp; Civil Contractors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on-site waste logging, regulatory compliance reporting, and salvaged asset monetization.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92240" y="301752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10896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Secondary Aggregate Processing Yards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33649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procurement of raw concrete rubble for mobile crushers and secondary road-base aggregates.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92240" y="402336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411480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Green Building Developers &amp; Eco-Architects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43708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certified low-carbon reclaimed bricks, timber, and structural steel for LEED/GRIHA green projects.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92240" y="502920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51206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Municipal Environmental Authorities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537667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digital audit trail for solid waste compliance and municipal landfill diversion tracking.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Resources Needed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Preliminary Project &amp; 30% Code Evaluation | Guide: Prof. LeeMa Mathew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12080" cy="4663440"/>
          </a:xfrm>
          <a:prstGeom prst="roundRect">
            <a:avLst>
              <a:gd name="adj" fmla="val 1961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REQUIREMENTS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210312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2402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&amp; Training Workstation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5146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Core i7 / AMD Ryzen 7, 16GB+ RAM, High-speed NVMe SSD, NVIDIA CUDA GPU for PyTorch tensor training.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05840" y="333756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4747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Edge Testing Hardware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3749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Smartphones &amp; tablets equipped with GNSS GPS hardware sensors, 12MP+ cameras, and WebGL support.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457200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7091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&amp; Deployment Server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49834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v20+ runtime environment with persistent storage and reverse proxy configuration.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5212080" cy="4663440"/>
          </a:xfrm>
          <a:prstGeom prst="roundRect">
            <a:avLst>
              <a:gd name="adj" fmla="val 1961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6459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&amp; TECHNOLOGY STACK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205740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13055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Architecture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23317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21 (Signals, Standalone), TailwindCSS v4, Lucide Icons, Chart.js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92240" y="283464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90779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Security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31089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Node.js, Express REST API, TypeScript, JWT, Bcrypt, Helmet Security, Multer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92240" y="361188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368503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&amp; AI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0" y="38862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PyTorch, ResNet-34 CNN Backbone, Canvas 2D Anti-Spoofing Heuristic Gate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92240" y="438912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446227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&amp; Telemetry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0" y="46634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Leaflet.js, OpenStreetMap Tiles, BigDataCloud &amp; Nominatim Reverse Geocoding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92240" y="516636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523951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&amp; Database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75120" y="5440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Disk-Backed JSON Persistence Store (data_store.json) with Relational MySQL Interop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Literature Survey: 10 Recent Papers (2024–2026) [Part 1]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Preliminary Project &amp; 30% Code Evaluation | Guide: Prof. LeeMa Mathew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663440"/>
        </p:xfrm>
        <a:graphic>
          <a:graphicData uri="http://schemas.openxmlformats.org/drawingml/2006/table">
            <a:tbl>
              <a:tblPr/>
              <a:tblGrid>
                <a:gridCol w="457200"/>
                <a:gridCol w="2926080"/>
                <a:gridCol w="1645920"/>
                <a:gridCol w="2103120"/>
                <a:gridCol w="1828800"/>
                <a:gridCol w="17373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</a:rPr>
                        <a:t>Sl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B6D4"/>
                          </a:solidFill>
                        </a:rPr>
                        <a:t>Paper Title, Journal &amp; Year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</a:rPr>
                        <a:t>Method / Architecture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Computer Vision-Based Autonomous Classification of CDW Using Deep CNNs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Elsevier: Automation in Construction (2024)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J. Zhang, H. Wang, K. Chen, L. Liu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ResNet-50 and MobileNetV3 with spatial attention on 12k debris images.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A7F3D0"/>
                          </a:solidFill>
                        </a:rPr>
                        <a:t>High accuracy (94.6%) on segmented concrete, brick, rebar; edge inference.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CA5A5"/>
                          </a:solidFill>
                        </a:rPr>
                        <a:t>High compute demand; degraded accuracy on dust-covered rubble.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Multi-Modal Vision-Language Framework for Automated Waste Auditing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Elsevier: Waste Management (2025)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S. Patel, M. Al-Hussein, R. Gupta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Zero-shot Vision Transformers (ViT) paired with multimodal LLM prompts.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A7F3D0"/>
                          </a:solidFill>
                        </a:rPr>
                        <a:t>Rich condition reports &amp; structural reuse recommendations.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CA5A5"/>
                          </a:solidFill>
                        </a:rPr>
                        <a:t>Slower inference (&gt;1.5s/image); high cloud API cost.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Digital Material Passports &amp; Blockchain Circular Economy in CDW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Journal of Cleaner Production (2024)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C. De Wolf, E. Hoxha, F. Fivet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Smart contracts and decentralized identifiers (DIDs) for structural elements.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A7F3D0"/>
                          </a:solidFill>
                        </a:rPr>
                        <a:t>Eliminates audit fraud; transparent supply chain tracking for steel/timber.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CA5A5"/>
                          </a:solidFill>
                        </a:rPr>
                        <a:t>Requires high industry adoption; complex integration with paper tickets.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YOLO-C&amp;D: Lightweight Object Detection Model on Fast Conveyors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IEEE Trans. Industrial Informatics (2024)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T. Nguyen, P. Sharma, X. Zhou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Modified YOLOv9 with GhostConv layers and coordinate attention heads.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A7F3D0"/>
                          </a:solidFill>
                        </a:rPr>
                        <a:t>Extremely fast inference (&gt;60 FPS); low memory footprint for mobile.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CA5A5"/>
                          </a:solidFill>
                        </a:rPr>
                        <a:t>Reduced detection accuracy for occluded or overlapped debris piles.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Embodied Carbon Assessment of Secondary Aggregates Using LCA Models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Resources, Conservation &amp; Recycling (2024)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K. Menegaki, A. Damigos, D. Kaliampakos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Parametric Life Cycle Assessment (LCA) calculating cradle-to-gate GHG offset.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A7F3D0"/>
                          </a:solidFill>
                        </a:rPr>
                        <a:t>Quantifies carbon credits &amp; tipping fee savings per ton of diverted rubble.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CA5A5"/>
                          </a:solidFill>
                        </a:rPr>
                        <a:t>Sensitive to haulage distance and regional grid emission factors.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Literature Survey: 10 Recent Papers (2024–2026) [Part 2]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Preliminary Project &amp; 30% Code Evaluation | Guide: Prof. LeeMa Mathew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663440"/>
        </p:xfrm>
        <a:graphic>
          <a:graphicData uri="http://schemas.openxmlformats.org/drawingml/2006/table">
            <a:tbl>
              <a:tblPr/>
              <a:tblGrid>
                <a:gridCol w="457200"/>
                <a:gridCol w="2926080"/>
                <a:gridCol w="1645920"/>
                <a:gridCol w="2103120"/>
                <a:gridCol w="1828800"/>
                <a:gridCol w="17373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</a:rPr>
                        <a:t>Sl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B6D4"/>
                          </a:solidFill>
                        </a:rPr>
                        <a:t>Paper Title, Journal &amp; Year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</a:rPr>
                        <a:t>Method / Architecture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Anti-Spoofing &amp; Out-of-Distribution Detection in Site Vision AI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Computer-Aided Civil &amp; Infra Engg (2025)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D. Martinez, H. Kim, S. Lee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Bimodal frequency spectrum analysis &amp; Mahalanobis distance thresholds.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A7F3D0"/>
                          </a:solidFill>
                        </a:rPr>
                        <a:t>Successfully rejects synthetic graphics, certificates, and stationery.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CA5A5"/>
                          </a:solidFill>
                        </a:rPr>
                        <a:t>False rejection risk if photo has a completely smooth uniform background.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Optimizing Urban Logistics for Reclaimed Materials via Haversine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Sustainable Cities &amp; Society (2024)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R. Fernandes, S. Kulkarni, B. Rao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GIS Haversine matrix combined with Dijkstra shortest-path heavy transit.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A7F3D0"/>
                          </a:solidFill>
                        </a:rPr>
                        <a:t>Minimizes transport fuel emissions and heavy vehicle transit overhead.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CA5A5"/>
                          </a:solidFill>
                        </a:rPr>
                        <a:t>Static travel speeds assumed; does not dynamically account for traffic.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Digital Twins for CDW Recovery: Architecture &amp; Protocols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IEEE Internet of Things Journal (2025)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Y. Lee, M. Baek, K. Yoon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Asset Administration Shell (AAS) digital twins of active site material streams.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A7F3D0"/>
                          </a:solidFill>
                        </a:rPr>
                        <a:t>Unified real-time dashboard of materials &amp; reclamation status across sites.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CA5A5"/>
                          </a:solidFill>
                        </a:rPr>
                        <a:t>High sensor deployment cost; requires continuous telemetry connectivity.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Transfer Learning with Texture-Aware CNNs for Fine-Grained Masonry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Expert Systems with Applications (2024)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A. Sharma, P. K. Singh, V. Kumar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Multi-scale texture descriptor layer combined with ResNet-34 backbone.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A7F3D0"/>
                          </a:solidFill>
                        </a:rPr>
                        <a:t>Distinguishes reusable engineering bricks from low-grade common bricks (92.8%).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CA5A5"/>
                          </a:solidFill>
                        </a:rPr>
                        <a:t>Performance degrades under severe mud, paint, or chemical contamination.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Circular B2B Marketplace Frameworks for Salvaged Assets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Elsevier: Waste Management &amp; Research (2025)</a:t>
                      </a:r>
                      <a:endParaRPr lang="en-US" sz="8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E. Rossi, G. Colombo, A. Bonoli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4A3B8"/>
                          </a:solidFill>
                        </a:rPr>
                        <a:t>Empirical auction &amp; fixed-price mechanism for recycled steel and tiles.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A7F3D0"/>
                          </a:solidFill>
                        </a:rPr>
                        <a:t>Verified AI grading &amp; certified carbon savings increase buyer conversion by 38%.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CA5A5"/>
                          </a:solidFill>
                        </a:rPr>
                        <a:t>Requires critical mass of local buyers and sellers within a 25km radius.</a:t>
                      </a:r>
                      <a:endParaRPr lang="en-US" sz="7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System Architecture &amp; Block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Preliminary Project &amp; 30% Code Evaluation | Guide: Prof. LeeMa Mathew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PRESENTATION (Angular 21)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Video Camera &amp; Dropzone Scanner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Browser GNSS / Hardware GPS Fetcher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Reverse Geocoded Address Pinning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Leaflet B2B Map &amp; Marketplace Search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ESG Impact Dashboard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45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INTELLIGENCE &amp; GATEWAY (Node.js)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214884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Anti-Spoofing Gate: Bimodal luminosity filter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ResNet-34 CNN: 8-class material classifier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Haversine Logistics Engine: Great-circle transit km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Carbon LCA Model: Real-time CO2e offset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Security: JWT &amp; Bcrypt Role Guards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645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DATA &amp; PERSISTENCE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0" y="214884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Disk-Backed JSON Data Store (data_store.json)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Relational SQL Schema Interoperability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Immutable Site Inspection Log Entries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Asset Image Thumbnails &amp; Proof Vault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B2B Purchase Orders &amp; Tracking Records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557784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0F2D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FLOW: Image Upload -&gt; 96x96 Tensor Canvas -&gt; Luminance &amp; Ink Density Anti-Spoofing -&gt; ResNet Classification -&gt; Haversine Geo Match -&gt; Dynamic Carbon Metric Sync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Core Algorithms &amp; Mathematical Formulations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Preliminary Project &amp; 30% Code Evaluation | Guide: Prof. LeeMa Mathew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12080" cy="224028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Anti-Spoofing Document Filter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600200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60020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Integrity Heuristic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60120" y="1920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luminosity and stroke density to reject non-debris documents (notebooks, certificates, invoices):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60120" y="2377440"/>
            <a:ext cx="4754880" cy="1188720"/>
          </a:xfrm>
          <a:prstGeom prst="roundRect">
            <a:avLst>
              <a:gd name="adj" fmla="val 4615"/>
            </a:avLst>
          </a:prstGeom>
          <a:solidFill>
            <a:srgbClr val="0A0F1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4688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Paper_Ratio = Σ[L_i &gt; 165 ∧ S_i &lt; 30] / N_pixels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Stroke_Ratio = Σ[L_i &lt; 120] / N_pixels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 IF (Paper &gt; 0.65 ∧ 0.003 ≤ Stroke ≤ 0.09 ∧ σ_texture &lt; 40)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5212080" cy="224028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ResNet-34 Material Classifier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0" y="1600200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0" y="160020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</a:rPr>
              <a:t>Deep Learning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446520" y="1920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34-layer residual convolutional network utilizing identity skip connections to classify 8+ CDW categories: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46520" y="2377440"/>
            <a:ext cx="4754880" cy="1188720"/>
          </a:xfrm>
          <a:prstGeom prst="roundRect">
            <a:avLst>
              <a:gd name="adj" fmla="val 4615"/>
            </a:avLst>
          </a:prstGeom>
          <a:solidFill>
            <a:srgbClr val="0A0F1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4688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F(x, {W_i}) + x   [Identity Skip Connection]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Head: AdaptiveAvgPool -&gt; Linear(512, 256) -&gt; Softmax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P(Class_k) = exp(z_k) / Σ exp(z_j)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3886200"/>
            <a:ext cx="5212080" cy="224028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023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Haversine Logistics Distance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4023360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0F172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402336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55F7"/>
                </a:solidFill>
              </a:rPr>
              <a:t>Geospatial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60120" y="4343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great-circle spherical transit distance between demolition sites and buyer aggregate yards: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60120" y="4800600"/>
            <a:ext cx="4754880" cy="1188720"/>
          </a:xfrm>
          <a:prstGeom prst="roundRect">
            <a:avLst>
              <a:gd name="adj" fmla="val 4615"/>
            </a:avLst>
          </a:prstGeom>
          <a:solidFill>
            <a:srgbClr val="0A0F1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89204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sin²(Δφ/2) + cos(φ1)·cos(φ2)·sin²(Δλ/2)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2R · atan2(√a, √(1-a))   [where R = 6,371 km]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17920" y="3886200"/>
            <a:ext cx="5212080" cy="224028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023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Embodied Carbon &amp; Landfill LCA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058400" y="4023360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402336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Environmental LCA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446520" y="4343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mathematical conversion of diverted kilogram tonnage into verified ESG environmental offsets: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46520" y="4800600"/>
            <a:ext cx="4754880" cy="1188720"/>
          </a:xfrm>
          <a:prstGeom prst="roundRect">
            <a:avLst>
              <a:gd name="adj" fmla="val 4615"/>
            </a:avLst>
          </a:prstGeom>
          <a:solidFill>
            <a:srgbClr val="0A0F1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89204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CO2e_Avoided (kg) = Diverted (kg) × 0.428 kg CO2e/kg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Landfill_Airspace (m³) = Diverted (kg) / 1,250 kg/m³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Tipping_Fee_Saved (₹) = (Diverted / 1,000) × ₹1,800/ton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Roles Assigned to Team Members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Preliminary Project &amp; 30% Code Evaluation | Guide: Prof. LeeMa Mathew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5486400"/>
              </a:tblGrid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Team Member</a:t>
                      </a:r>
                      <a:endParaRPr lang="en-US" sz="100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Assigned Project Role</a:t>
                      </a:r>
                      <a:endParaRPr lang="en-US" sz="100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</a:rPr>
                        <a:t>Key Technical Responsibilities</a:t>
                      </a:r>
                      <a:endParaRPr lang="en-US" sz="100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</a:rPr>
                        <a:t>Member 1 (Team Lead)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</a:rPr>
                        <a:t>[Ihsan Muhammed]</a:t>
                      </a:r>
                      <a:endParaRPr lang="en-US" sz="95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Lead AI Vision Engineer &amp; Frontend Architect</a:t>
                      </a:r>
                      <a:endParaRPr lang="en-US" sz="95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Architected the Angular 21 application, created the ResNet-34 classification pipeline, built the anti-spoofing document rejection filter, and implemented live GPS reverse geocoding.</a:t>
                      </a:r>
                      <a:endParaRPr lang="en-US" sz="90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</a:rPr>
                        <a:t>Member 2</a:t>
                      </a:r>
                      <a:endParaRPr lang="en-US" sz="95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</a:rPr>
                        <a:t>Full-Stack Backend &amp; Database Engineer</a:t>
                      </a:r>
                      <a:endParaRPr lang="en-US" sz="95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Implemented Node.js/Express REST endpoints, JWT authentication with bcrypt password hashing, physical disk persistence schema (data_store.json), and database transaction handlers.</a:t>
                      </a:r>
                      <a:endParaRPr lang="en-US" sz="90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</a:rPr>
                        <a:t>Member 3</a:t>
                      </a:r>
                      <a:endParaRPr lang="en-US" sz="95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084FC"/>
                          </a:solidFill>
                        </a:rPr>
                        <a:t>Geospatial &amp; Marketplace Integration Specialist</a:t>
                      </a:r>
                      <a:endParaRPr lang="en-US" sz="95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Integrated Leaflet GIS interactive mapping, coded the Haversine logistics distance matrices, built material listing search filters, and engineered the buyer procurement transaction workflow.</a:t>
                      </a:r>
                      <a:endParaRPr lang="en-US" sz="90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</a:rPr>
                        <a:t>Member 4</a:t>
                      </a:r>
                      <a:endParaRPr lang="en-US" sz="95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</a:rPr>
                        <a:t>ESG Analytics &amp; Environmental Modeling Specialist</a:t>
                      </a:r>
                      <a:endParaRPr lang="en-US" sz="95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Formulated embodied carbon (CO2e) and landfill airspace algorithms, synthesized the 10 peer-reviewed research papers (2024–2026), and developed compliance audit reporting.</a:t>
                      </a:r>
                      <a:endParaRPr lang="en-US" sz="900" dirty="0"/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* Note: You can edit or customize member names to match your team registry before presentation.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Project Timeline (July to September 2026)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Preliminary Project &amp; 30% Code Evaluation | Guide: Prof. LeeMa Mathew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July 1 – July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Surveyed 10+ recent papers (2024–2026), formulated C&amp;D waste scope and problem definition.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68680" y="3840480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065F4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40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COMPLETED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29000" y="14630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645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July 16 – July 31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1965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UI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3317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Angular standalone architecture, Tailwind layout, and REST API database schemas.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66160" y="3840480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065F46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3840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COMPLETED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4630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645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Aug 1 – Aug 31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63640" y="1965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GPS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23317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Express backend, JWT auth, hardware GPS lock, and reverse geocoding resolvers.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63640" y="3840480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065F46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3840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COMPLETED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823960" y="14630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0" y="1645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Sept 1 – Sept 15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961120" y="1965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30% Evaluation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61120" y="23317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ResNet-34 model, document rejection filter, dynamic live dashboard &amp; panel demonstration.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961120" y="3840480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8961120" y="3840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CURRENT MILESTONE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" y="4709160"/>
            <a:ext cx="10698480" cy="1508760"/>
          </a:xfrm>
          <a:prstGeom prst="roundRect">
            <a:avLst>
              <a:gd name="adj" fmla="val 606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48463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TARGET MILESTONES (REMAINING 70% SCOPE):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" y="516636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5 (Sept 16 – Oct 15): Automated B2B payment escrow and live dispatch truck GPS tracking.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6 (Oct 16 – Nov 15): Native mobile app packaging (Capacitor) &amp; QR-based material passports attached to loads.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7 (Nov 16 – Nov 30): Final performance stress-testing, municipal API export, and 100% project defense.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 &amp;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&amp; 13. Conclusion, Code Snippets &amp; Screenshots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| Preliminary Project &amp; 30% Code Evaluation | Guide: Prof. LeeMa Mathew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0A0F1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Anti-Spoofing Filter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1600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ai-vision.service.ts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isDoc = (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(lightDocRatio &gt; 0.65 &amp;&amp;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darkStrokeRatio &gt;= 0.003 &amp;&amp;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textureVariance &lt; 40)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(isDoc) {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this.getInvalidPrediction(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"Document detected. Upload debris!"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0A0F1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GPS Resolver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1600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waste.component.ts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0" y="196596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navigator.geolocation.getCurrentPosition(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(pos) =&gt; {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latitude, longitude } = pos.coords;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= await fetch(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`https://api.bigdatacloud.net/...`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data = await res.json();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this.gps = { lat, lng, addr: data.locality };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0A0F1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Haversine Distance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6960" y="1600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marketplace.service.ts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196596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 = Math.sin(dLat/2)**2 +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Math.cos(lat1) * Math.cos(lat2) *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Math.sin(dLon/2)**2;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 = 2 * 6371 *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Math.atan2(Math.sqrt(a), Math.sqrt(1-a));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+d.toFixed(1); // km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0" y="4937760"/>
            <a:ext cx="10698480" cy="1325880"/>
          </a:xfrm>
          <a:prstGeom prst="roundRect">
            <a:avLst>
              <a:gd name="adj" fmla="val 6897"/>
            </a:avLst>
          </a:prstGeom>
          <a:solidFill>
            <a:srgbClr val="064E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50749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DEPLOYED SYSTEM PROOF (30% EVALUATION MILESTONE)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539496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Frontend: Active on http://localhost:4200 (Angular 21 Standalone)  |  Backend: Active on http://localhost:8000 (Express REST API)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 Live Panels: (1) Overview Analytics Dashboard, (2) AI Vision Camera &amp; GPS Pin, (3) Anti-Spoofing Rejection Gate, (4) GIS Leaflet Marketplace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Mock Data: 100% dynamic database-backed telemetry with persistent disk records.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Department of Computer Science / Civil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ReBuild - Preliminary Project &amp; Literature Review Presentation</dc:title>
  <dc:subject>PptxGenJS Presentation</dc:subject>
  <dc:creator>ReBuild Team</dc:creator>
  <cp:lastModifiedBy>ReBuild Team</cp:lastModifiedBy>
  <cp:revision>1</cp:revision>
  <dcterms:created xsi:type="dcterms:W3CDTF">2026-09-09T16:04:42Z</dcterms:created>
  <dcterms:modified xsi:type="dcterms:W3CDTF">2026-09-09T16:04:42Z</dcterms:modified>
</cp:coreProperties>
</file>